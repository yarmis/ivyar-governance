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Revenue Scenarios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1.8</c:v>
                </c:pt>
                <c:pt idx="2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1.2</c:v>
                </c:pt>
                <c:pt idx="1">
                  <c:v>2.5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IVYAR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Governance, Security &amp; Defense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27"/>
                </a:solidFill>
              </a:rPr>
              <a:t>NATO/DoD Standards • Zero-Trust Architecture • Ethical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Investor Pitch Deck | December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</a:rPr>
              <a:t>Governments Face Critical Infrastructure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594360"/>
          </a:xfrm>
          <a:prstGeom prst="rect">
            <a:avLst/>
          </a:prstGeom>
          <a:solidFill>
            <a:srgbClr val="FEF3F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Opaque Procurement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15-30% budget loss to corruption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572000" cy="594360"/>
          </a:xfrm>
          <a:prstGeom prst="rect">
            <a:avLst/>
          </a:prstGeom>
          <a:solidFill>
            <a:srgbClr val="FEF3F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Security Vulnerabilities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Fragmented systems create attack surfaces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0" cy="594360"/>
          </a:xfrm>
          <a:prstGeom prst="rect">
            <a:avLst/>
          </a:prstGeom>
          <a:solidFill>
            <a:srgbClr val="FEF3F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Weak Audit Trails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No accountability, trust erosion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4572000" cy="594360"/>
          </a:xfrm>
          <a:prstGeom prst="rect">
            <a:avLst/>
          </a:prstGeom>
          <a:solidFill>
            <a:srgbClr val="FEF3F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73152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No Training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Unprepared personnel, critical failures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371600"/>
            <a:ext cx="3200400" cy="822960"/>
          </a:xfrm>
          <a:prstGeom prst="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3545"/>
                </a:solidFill>
              </a:rPr>
              <a:t>7-12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8640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Legacy systems per ministry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286000"/>
            <a:ext cx="3200400" cy="822960"/>
          </a:xfrm>
          <a:prstGeom prst="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</a:rPr>
              <a:t>40%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Efficiency loss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3200400"/>
            <a:ext cx="3200400" cy="822960"/>
          </a:xfrm>
          <a:prstGeom prst="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48640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Ethical AI 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One Unified Platform for Institutional Excellence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Governance Portal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Workflows, approvals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8-Layer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Zero-trust architecture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ITAR, GDPR, SOC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66560" y="1371600"/>
            <a:ext cx="19202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Procurement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Transparent bidding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560320"/>
            <a:ext cx="192024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Academy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Training, certifications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256032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2560320"/>
            <a:ext cx="19202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Simulation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017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Crisis scenarios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56032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2560320"/>
            <a:ext cx="19202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Ethical AI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Bias detection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1920240" cy="1005840"/>
          </a:xfrm>
          <a:prstGeom prst="rect">
            <a:avLst>
              <a:gd name="adj" fmla="val 4545"/>
            </a:avLst>
          </a:prstGeom>
          <a:solidFill>
            <a:srgbClr val="0D1B2A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2560320"/>
            <a:ext cx="192024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Multi-Agent AI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017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Orchestration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NATO/DoD Compliant  •  Immutable Audit Trail  •  Human-in-the-Loop 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</a:rPr>
              <a:t>$35B+ GovTech &amp; Defense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731520"/>
          </a:xfrm>
          <a:prstGeom prst="rect">
            <a:avLst>
              <a:gd name="adj" fmla="val 6250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$35-45B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Global GovTech + Defense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0" cy="731520"/>
          </a:xfrm>
          <a:prstGeom prst="rect">
            <a:avLst>
              <a:gd name="adj" fmla="val 625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365D"/>
                </a:solidFill>
              </a:rPr>
              <a:t>$8-12B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NATO Partners + Donors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731520"/>
          </a:xfrm>
          <a:prstGeom prst="rect">
            <a:avLst>
              <a:gd name="adj" fmla="val 625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085"/>
                </a:solidFill>
              </a:rPr>
              <a:t>$200-500M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Realistic Target (3yr)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Target Segments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3657600" cy="502920"/>
          </a:xfrm>
          <a:prstGeom prst="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645920"/>
            <a:ext cx="73152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Ministries of Defense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920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$150K-500K ACV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240280"/>
            <a:ext cx="3657600" cy="502920"/>
          </a:xfrm>
          <a:prstGeom prst="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2240280"/>
            <a:ext cx="73152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International Donors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$250K-500K ACV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834640"/>
            <a:ext cx="3657600" cy="502920"/>
          </a:xfrm>
          <a:prstGeom prst="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2834640"/>
            <a:ext cx="73152" cy="502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OEM Manufacturers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108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$150K-300K ACV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3429000"/>
            <a:ext cx="3657600" cy="502920"/>
          </a:xfrm>
          <a:prstGeom prst="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3429000"/>
            <a:ext cx="73152" cy="50292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Gov Digitalization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3703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$100K-350K ACV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</a:rPr>
              <a:t>SaaS + Modular Revenue Streams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</a:rPr>
              <a:t>Revenue Mix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SaaS Subscriptions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60%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67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Modular Add-ons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B365D"/>
                </a:solidFill>
              </a:rPr>
              <a:t>20%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Transaction Fees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10%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91840"/>
            <a:ext cx="73152" cy="45720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Professional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337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C757D"/>
                </a:solidFill>
              </a:rPr>
              <a:t>10%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</a:rPr>
              <a:t>Pricing Tiers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960120" cy="10972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69164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Starter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19659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</a:rPr>
              <a:t>$75K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23317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/year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23560" y="1645920"/>
            <a:ext cx="960120" cy="10972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69164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Professional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19659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</a:rPr>
              <a:t>$150K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23317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/year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1645920"/>
            <a:ext cx="960120" cy="109728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69164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Enterprise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19659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</a:rPr>
              <a:t>$250K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23317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/year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26680" y="1645920"/>
            <a:ext cx="960120" cy="109728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169164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227"/>
                </a:solidFill>
              </a:rPr>
              <a:t>National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26680" y="19659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$500K+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26680" y="23317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/year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2926080"/>
            <a:ext cx="411480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</a:rPr>
              <a:t>Popular Add-ons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Security: $50-100K  •  Simulation: $50K  •  Academy: $20K  •  AI: $75K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</a:rPr>
              <a:t>Path to $5M+ ARR by Year 3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0" y="1645920"/>
            <a:ext cx="3200400" cy="384048"/>
          </a:xfrm>
          <a:prstGeom prst="rect">
            <a:avLst>
              <a:gd name="adj" fmla="val 11905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56235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Avg Contract Value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1673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65D"/>
                </a:solidFill>
              </a:rPr>
              <a:t>$200-350K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2103120"/>
            <a:ext cx="3200400" cy="384048"/>
          </a:xfrm>
          <a:prstGeom prst="rect">
            <a:avLst>
              <a:gd name="adj" fmla="val 11905"/>
            </a:avLst>
          </a:pr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Customer LTV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2130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$800K-1.5M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2560320"/>
            <a:ext cx="3200400" cy="384048"/>
          </a:xfrm>
          <a:prstGeom prst="rect">
            <a:avLst>
              <a:gd name="adj" fmla="val 11905"/>
            </a:avLst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LTV:CAC Ratio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25877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10:1 - 15:1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0" y="3017520"/>
            <a:ext cx="3200400" cy="384048"/>
          </a:xfrm>
          <a:prstGeom prst="rect">
            <a:avLst>
              <a:gd name="adj" fmla="val 11905"/>
            </a:avLst>
          </a:prstGeom>
          <a:solidFill>
            <a:srgbClr val="0D1B2A"/>
          </a:solidFill>
          <a:ln/>
        </p:spPr>
      </p:sp>
      <p:sp>
        <p:nvSpPr>
          <p:cNvPr id="16" name="Text 13"/>
          <p:cNvSpPr/>
          <p:nvPr/>
        </p:nvSpPr>
        <p:spPr>
          <a:xfrm>
            <a:off x="56235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30449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70-80%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0" y="3474720"/>
            <a:ext cx="3200400" cy="384048"/>
          </a:xfrm>
          <a:prstGeom prst="rect">
            <a:avLst>
              <a:gd name="adj" fmla="val 11905"/>
            </a:avLst>
          </a:pr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Payback Period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3502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65D"/>
                </a:solidFill>
              </a:rPr>
              <a:t>6-12 mo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0" y="3931920"/>
            <a:ext cx="3200400" cy="384048"/>
          </a:xfrm>
          <a:prstGeom prst="rect">
            <a:avLst>
              <a:gd name="adj" fmla="val 11905"/>
            </a:avLst>
          </a:prstGeom>
          <a:solidFill>
            <a:srgbClr val="F8F9FA"/>
          </a:solidFill>
          <a:ln/>
        </p:spPr>
      </p:sp>
      <p:sp>
        <p:nvSpPr>
          <p:cNvPr id="22" name="Text 19"/>
          <p:cNvSpPr/>
          <p:nvPr/>
        </p:nvSpPr>
        <p:spPr>
          <a:xfrm>
            <a:off x="562356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Retention Rate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0" y="3959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&gt;95%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Three-Phase Expansion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>
              <a:gd name="adj" fmla="val 3448"/>
            </a:avLst>
          </a:prstGeom>
          <a:solidFill>
            <a:srgbClr val="0D1B2A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17320"/>
            <a:ext cx="640080" cy="228600"/>
          </a:xfrm>
          <a:prstGeom prst="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YEAR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2-3 pilot deployments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NATO compliance cert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Build partner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Reference cases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$1M ARR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651760" cy="2926080"/>
          </a:xfrm>
          <a:prstGeom prst="rect">
            <a:avLst>
              <a:gd name="adj" fmla="val 3448"/>
            </a:avLst>
          </a:prstGeom>
          <a:solidFill>
            <a:srgbClr val="0D1B2A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1417320"/>
            <a:ext cx="640080" cy="228600"/>
          </a:xfrm>
          <a:prstGeom prst="rect">
            <a:avLst>
              <a:gd name="adj" fmla="val 12000"/>
            </a:avLst>
          </a:prstGeom>
          <a:solidFill>
            <a:srgbClr val="16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17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YEAR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1417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3-5 NATO countries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International donors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OEM partnerships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Defense conferences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085"/>
                </a:solidFill>
              </a:rPr>
              <a:t>$2.5M ARR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2926080"/>
          </a:xfrm>
          <a:prstGeom prst="rect">
            <a:avLst>
              <a:gd name="adj" fmla="val 3448"/>
            </a:avLst>
          </a:prstGeom>
          <a:solidFill>
            <a:srgbClr val="0D1B2A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1417320"/>
            <a:ext cx="640080" cy="2286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417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YEAR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1417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10+ deployments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EU &amp; NA presence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Gov digitalization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• Humanitarian logistics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Target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$5M+ ARR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</a:rPr>
              <a:t>Why IVYAR Wins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Competitor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1460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Strength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Weakness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0" y="13258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</a:rPr>
              <a:t>IVYAR Advantage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Palantir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Data analytics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3545"/>
                </a:solidFill>
              </a:rPr>
              <a:t>High cost, complex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Governance + ethics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SAP GRC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Enterprise 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3545"/>
                </a:solidFill>
              </a:rPr>
              <a:t>Not defense-focused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Defense-native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ServiceNow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Workflow automation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3545"/>
                </a:solidFill>
              </a:rPr>
              <a:t>No simulation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Academy + simulation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Legacy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Existing contracts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3545"/>
                </a:solidFill>
              </a:rPr>
              <a:t>Fragmented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Unified platform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2011680" cy="548640"/>
          </a:xfrm>
          <a:prstGeom prst="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NATO/DoD Native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06040" y="3840480"/>
            <a:ext cx="2011680" cy="548640"/>
          </a:xfrm>
          <a:prstGeom prst="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Ethical AI First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2011680" cy="548640"/>
          </a:xfrm>
          <a:prstGeom prst="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Academy + Simulation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3840480"/>
            <a:ext cx="2011680" cy="548640"/>
          </a:xfrm>
          <a:prstGeom prst="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50-70% Lower Cost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INVESTMENT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Seed Round: $1.5M - $2.5M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Use of Funds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457200"/>
          </a:xfrm>
          <a:prstGeom prst="rect">
            <a:avLst>
              <a:gd name="adj" fmla="val 10000"/>
            </a:avLst>
          </a:prstGeom>
          <a:solidFill>
            <a:srgbClr val="1B365D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45%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31920" cy="457200"/>
          </a:xfrm>
          <a:prstGeom prst="rect">
            <a:avLst>
              <a:gd name="adj" fmla="val 10000"/>
            </a:avLst>
          </a:prstGeom>
          <a:solidFill>
            <a:srgbClr val="1B365D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Sales &amp; Marketing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25%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457200"/>
          </a:xfrm>
          <a:prstGeom prst="rect">
            <a:avLst>
              <a:gd name="adj" fmla="val 10000"/>
            </a:avLst>
          </a:prstGeom>
          <a:solidFill>
            <a:srgbClr val="1B365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Security &amp;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931920" cy="457200"/>
          </a:xfrm>
          <a:prstGeom prst="rect">
            <a:avLst>
              <a:gd name="adj" fmla="val 10000"/>
            </a:avLst>
          </a:prstGeom>
          <a:solidFill>
            <a:srgbClr val="1B365D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Operations &amp; Reserve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29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C757D"/>
                </a:solidFill>
              </a:rPr>
              <a:t>15%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Why Invest Now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78308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801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764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$35B+ 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1993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Defense spending surge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3957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359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Unique Platform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587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Governance + ethics + simulation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900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953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 Unit Economics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182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10:1+ LTV:CAC, 70%+ margin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5844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547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 Retention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3776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3-5+ year gov contracts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IVYAR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Transforming Institutional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</a:rPr>
              <a:t>$35B+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085"/>
                </a:solidFill>
              </a:rPr>
              <a:t>70%+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Gross Margin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10:1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LTV:CAC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931920"/>
            <a:ext cx="4572000" cy="457200"/>
          </a:xfrm>
          <a:prstGeom prst="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Let's Build the Future of Governance Together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info@ivyar.org  •  ivyar.org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IVYAR Investor Pitch Deck</dc:title>
  <dc:subject>PptxGenJS Presentation</dc:subject>
  <dc:creator>IVYAR LLC</dc:creator>
  <cp:lastModifiedBy>IVYAR LLC</cp:lastModifiedBy>
  <cp:revision>1</cp:revision>
  <dcterms:created xsi:type="dcterms:W3CDTF">2025-12-29T22:51:59Z</dcterms:created>
  <dcterms:modified xsi:type="dcterms:W3CDTF">2025-12-29T22:51:59Z</dcterms:modified>
</cp:coreProperties>
</file>